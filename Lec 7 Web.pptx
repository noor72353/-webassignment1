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37"/>
  </p:notesMasterIdLst>
  <p:sldIdLst>
    <p:sldId id="284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451" r:id="rId22"/>
    <p:sldId id="452" r:id="rId23"/>
    <p:sldId id="453" r:id="rId24"/>
    <p:sldId id="454" r:id="rId25"/>
    <p:sldId id="455" r:id="rId26"/>
    <p:sldId id="456" r:id="rId27"/>
    <p:sldId id="457" r:id="rId28"/>
    <p:sldId id="458" r:id="rId29"/>
    <p:sldId id="459" r:id="rId30"/>
    <p:sldId id="460" r:id="rId31"/>
    <p:sldId id="461" r:id="rId32"/>
    <p:sldId id="462" r:id="rId33"/>
    <p:sldId id="463" r:id="rId34"/>
    <p:sldId id="464" r:id="rId35"/>
    <p:sldId id="46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85879" autoAdjust="0"/>
  </p:normalViewPr>
  <p:slideViewPr>
    <p:cSldViewPr snapToGrid="0">
      <p:cViewPr varScale="1">
        <p:scale>
          <a:sx n="78" d="100"/>
          <a:sy n="78" d="100"/>
        </p:scale>
        <p:origin x="-57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314C3-B0EC-4AD1-B5EA-D2F77D34CA71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A5FAB-D57B-4F09-9D42-40E1DFCD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2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7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5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0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6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4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6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4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1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7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55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xmlns="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/>
              <a:t>5/20/2025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xmlns="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001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xmlns="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xmlns="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xmlns="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prstClr val="white">
                  <a:lumMod val="9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prstClr val="white">
                  <a:lumMod val="9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xmlns="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31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xmlns="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xmlns="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xmlns="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prstClr val="white">
                  <a:lumMod val="9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prstClr val="white">
                  <a:lumMod val="9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xmlns="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31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173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002060"/>
          </a:solidFill>
        </p:spPr>
        <p:txBody>
          <a:bodyPr anchor="b"/>
          <a:lstStyle>
            <a:lvl1pPr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rgbClr val="001050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30EE-1BA8-420F-B2C9-CE22107EC47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461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062"/>
            <a:ext cx="10515600" cy="1325563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0214-E8A3-43BC-B597-D3E30C8B00C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585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8542-80B1-4CF8-8433-4FF09B77E66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510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DA35-5107-4BD5-8AAB-1BDDC0BFF48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9665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234" y="0"/>
            <a:ext cx="11446933" cy="806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9467" y="1090614"/>
            <a:ext cx="5621867" cy="4757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4533" y="1090614"/>
            <a:ext cx="5621867" cy="2301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4533" y="3544888"/>
            <a:ext cx="5621867" cy="2303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ur-PK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ur-PK">
              <a:solidFill>
                <a:prstClr val="black"/>
              </a:solidFill>
            </a:endParaRPr>
          </a:p>
        </p:txBody>
      </p:sp>
      <p:sp>
        <p:nvSpPr>
          <p:cNvPr id="8" name="Rectangle 2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9B5AB-CCCA-4AAC-8657-32577AFC7CB2}" type="slidenum">
              <a:rPr lang="en-US" altLang="ur-PK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ur-PK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126181"/>
      </p:ext>
    </p:extLst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234" y="0"/>
            <a:ext cx="11446933" cy="806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9467" y="1090614"/>
            <a:ext cx="5621867" cy="4757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4533" y="1090614"/>
            <a:ext cx="5621867" cy="4757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ur-PK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ur-PK">
              <a:solidFill>
                <a:prstClr val="black"/>
              </a:solidFill>
            </a:endParaRP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4749D-538A-48B0-BB7E-ED7EFB0107F0}" type="slidenum">
              <a:rPr lang="en-US" altLang="ur-PK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ur-PK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4577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B7BFA-4AC9-4F51-BAD1-9EF0C4C46EC2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5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A08FD-3D60-442C-B673-50DEA1E718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49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tag_source.asp" TargetMode="Externa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att_audio_controls.asp" TargetMode="External"/><Relationship Id="rId2" Type="http://schemas.openxmlformats.org/officeDocument/2006/relationships/hyperlink" Target="https://www.w3schools.com/tags/att_audio_autoplay.asp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www.w3schools.com/tags/att_audio_src.asp" TargetMode="External"/><Relationship Id="rId5" Type="http://schemas.openxmlformats.org/officeDocument/2006/relationships/hyperlink" Target="https://www.w3schools.com/tags/att_audio_muted.asp" TargetMode="External"/><Relationship Id="rId4" Type="http://schemas.openxmlformats.org/officeDocument/2006/relationships/hyperlink" Target="https://www.w3schools.com/tags/att_audio_loop.as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tag_source.asp" TargetMode="Externa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tags/att_video_src.asp" TargetMode="External"/><Relationship Id="rId3" Type="http://schemas.openxmlformats.org/officeDocument/2006/relationships/hyperlink" Target="https://www.w3schools.com/tags/att_video_controls.asp" TargetMode="External"/><Relationship Id="rId7" Type="http://schemas.openxmlformats.org/officeDocument/2006/relationships/hyperlink" Target="https://www.w3schools.com/tags/att_video_poster.asp" TargetMode="External"/><Relationship Id="rId2" Type="http://schemas.openxmlformats.org/officeDocument/2006/relationships/hyperlink" Target="https://www.w3schools.com/tags/att_video_autoplay.asp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www.w3schools.com/tags/att_video_muted.asp" TargetMode="External"/><Relationship Id="rId5" Type="http://schemas.openxmlformats.org/officeDocument/2006/relationships/hyperlink" Target="https://www.w3schools.com/tags/att_video_loop.asp" TargetMode="External"/><Relationship Id="rId4" Type="http://schemas.openxmlformats.org/officeDocument/2006/relationships/hyperlink" Target="https://www.w3schools.com/tags/att_video_height.asp" TargetMode="External"/><Relationship Id="rId9" Type="http://schemas.openxmlformats.org/officeDocument/2006/relationships/hyperlink" Target="https://www.w3schools.com/tags/att_video_width.asp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schools.com/tags/tag_label.asp" TargetMode="External"/><Relationship Id="rId3" Type="http://schemas.openxmlformats.org/officeDocument/2006/relationships/hyperlink" Target="http://www.w3schools.com/tags/tag_textarea.asp" TargetMode="External"/><Relationship Id="rId7" Type="http://schemas.openxmlformats.org/officeDocument/2006/relationships/hyperlink" Target="http://www.w3schools.com/tags/tag_fieldset.asp" TargetMode="External"/><Relationship Id="rId2" Type="http://schemas.openxmlformats.org/officeDocument/2006/relationships/hyperlink" Target="http://www.w3schools.com/tags/tag_input.asp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www.w3schools.com/tags/tag_option.asp" TargetMode="External"/><Relationship Id="rId5" Type="http://schemas.openxmlformats.org/officeDocument/2006/relationships/hyperlink" Target="http://www.w3schools.com/tags/tag_select.asp" TargetMode="External"/><Relationship Id="rId4" Type="http://schemas.openxmlformats.org/officeDocument/2006/relationships/hyperlink" Target="http://www.w3schools.com/tags/tag_button.asp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tags/tag_fieldset.asp" TargetMode="Externa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tags/tag_option.asp" TargetMode="Externa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663A08-5DAE-4AF9-898B-437FB4DCE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19492"/>
            <a:ext cx="12192000" cy="2165125"/>
          </a:xfrm>
        </p:spPr>
        <p:txBody>
          <a:bodyPr>
            <a:noAutofit/>
          </a:bodyPr>
          <a:lstStyle/>
          <a:p>
            <a:r>
              <a:rPr lang="en-US" sz="4800" dirty="0"/>
              <a:t>Web Programming</a:t>
            </a:r>
            <a:br>
              <a:rPr lang="en-US" sz="4800" dirty="0"/>
            </a:br>
            <a:endParaRPr lang="en-US" sz="4800" dirty="0">
              <a:ea typeface="+mn-lt"/>
              <a:cs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0746440-FFC7-47D9-82FF-48B7F66EB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1" y="697368"/>
            <a:ext cx="4532812" cy="1045029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No.07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2F4ED84E-60DD-47EC-B4DE-DE8CA8C4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52C-3CFC-4FAB-945A-BCF95F4812D3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8085CF7-82D0-438F-957D-503B6DD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</a:t>
            </a:fld>
            <a:endParaRPr lang="en-US" dirty="0"/>
          </a:p>
        </p:txBody>
      </p:sp>
      <p:pic>
        <p:nvPicPr>
          <p:cNvPr id="8" name="Picture 2" descr="Principles of Modern Web Development in Pakistan | Hub So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96" y="2351096"/>
            <a:ext cx="2745025" cy="170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11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chemeClr val="bg1"/>
                </a:solidFill>
                <a:latin typeface="Calibri "/>
              </a:rPr>
              <a:t>Canvas Tag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2060"/>
                </a:solidFill>
                <a:latin typeface="Calibri "/>
              </a:rPr>
              <a:t> 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&lt;canvas&gt;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tag is used to draw graphics, on the fly, via scripting (usually JavaScript).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&lt;canvas&gt; 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tag is transparent, and is only a container for graphics, you must use a script to actually draw the graphics.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  <a:latin typeface="Calibri "/>
              </a:rPr>
              <a:t>Any text inside 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&lt;canvas&gt;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element will be displayed in browsers with JavaScript disabled and in browsers that do not support &lt;canvas&gt;.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18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3712"/>
            <a:ext cx="6630325" cy="45726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909" y="2485017"/>
            <a:ext cx="4255381" cy="279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7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2060"/>
                </a:solidFill>
              </a:rPr>
              <a:t> First line creates a &lt;canvas&gt; element with the ID "</a:t>
            </a:r>
            <a:r>
              <a:rPr lang="en-US" dirty="0" err="1">
                <a:solidFill>
                  <a:srgbClr val="002060"/>
                </a:solidFill>
              </a:rPr>
              <a:t>myCanvas</a:t>
            </a:r>
            <a:r>
              <a:rPr lang="en-US" dirty="0">
                <a:solidFill>
                  <a:srgbClr val="002060"/>
                </a:solidFill>
              </a:rPr>
              <a:t>"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2060"/>
                </a:solidFill>
              </a:rPr>
              <a:t>script block retrieves the canvas element by its ID and gets its 2D drawing context, which is necessary for drawing shapes on the canvas.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2060"/>
                </a:solidFill>
              </a:rPr>
              <a:t>The fill style is set to red.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2060"/>
                </a:solidFill>
              </a:rPr>
              <a:t>A rectangle is drawn starting at the coordinates (20, 20) with a width of 75 pixels and a height of 50 pixels.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2060"/>
                </a:solidFill>
              </a:rPr>
              <a:t> Global alpha (transparency) value to 0.2, meaning subsequent shapes drawn will be 20% opaque (80% transparent).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32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Audio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2060"/>
                </a:solidFill>
                <a:latin typeface="Calibri "/>
              </a:rPr>
              <a:t> 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&lt;audio&gt;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tag is used to embed sound content in a document, such as music or other audio streams.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&lt;audio&gt;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tag contains one or more </a:t>
            </a:r>
            <a:r>
              <a:rPr lang="en-US" sz="2400" b="0" dirty="0">
                <a:solidFill>
                  <a:srgbClr val="002060"/>
                </a:solidFill>
                <a:latin typeface="Calibri "/>
                <a:hlinkClick r:id="rId2"/>
              </a:rPr>
              <a:t>&lt;source&gt;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tags with different audio sources. The browser will choose the first source it supports.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  <a:latin typeface="Calibri "/>
              </a:rPr>
              <a:t>The text between 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&lt;audio&gt; 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and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&lt;/audio&gt;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tags will only be displayed in browsers that do not support 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&lt;audio&gt;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element.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  <a:latin typeface="Calibri "/>
              </a:rPr>
              <a:t>There are three supported audio formats in HTML: MP3, WAV, and OGG.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81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Attributes of Audio Tag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838228" y="1839034"/>
          <a:ext cx="9087437" cy="4137561"/>
        </p:xfrm>
        <a:graphic>
          <a:graphicData uri="http://schemas.openxmlformats.org/drawingml/2006/table">
            <a:tbl>
              <a:tblPr/>
              <a:tblGrid>
                <a:gridCol w="10908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60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4051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473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</a:rPr>
                        <a:t>Attribute</a:t>
                      </a:r>
                    </a:p>
                  </a:txBody>
                  <a:tcPr marL="7826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Value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771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  <a:hlinkClick r:id="rId2"/>
                        </a:rPr>
                        <a:t>autoplay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7826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autoplay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Specifies that the audio will start playing as soon as it is ready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3771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  <a:hlinkClick r:id="rId3"/>
                        </a:rPr>
                        <a:t>controls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7826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controls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Specifies that audio controls should be displayed (such as a play/pause button etc)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6908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  <a:hlinkClick r:id="rId4"/>
                        </a:rPr>
                        <a:t>loop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7826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loop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</a:rPr>
                        <a:t>Specifies that the audio will start over again, every time it is finished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916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  <a:hlinkClick r:id="rId5"/>
                        </a:rPr>
                        <a:t>muted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7826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muted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>Specifies that the audio output should be muted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8916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hlinkClick r:id="rId6"/>
                        </a:rPr>
                        <a:t>src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7826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i="1">
                          <a:solidFill>
                            <a:srgbClr val="002060"/>
                          </a:solidFill>
                          <a:effectLst/>
                        </a:rPr>
                        <a:t>URL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</a:rPr>
                        <a:t>Specifies the URL of the audio file</a:t>
                      </a:r>
                    </a:p>
                  </a:txBody>
                  <a:tcPr marL="39131" marR="39131" marT="39131" marB="3913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00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3690"/>
            <a:ext cx="6039693" cy="41915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550" y="2486753"/>
            <a:ext cx="460121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16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2060"/>
                </a:solidFill>
                <a:latin typeface="Calibri "/>
              </a:rPr>
              <a:t> 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&lt;video&gt;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tag is used to embed video content in a document, such as a movie clip or other video streams.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&lt;video&gt; 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tag contains one or more </a:t>
            </a:r>
            <a:r>
              <a:rPr lang="en-US" sz="2400" b="0" dirty="0">
                <a:solidFill>
                  <a:srgbClr val="002060"/>
                </a:solidFill>
                <a:latin typeface="Calibri "/>
                <a:hlinkClick r:id="rId2"/>
              </a:rPr>
              <a:t>&lt;source&gt;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tags with different video sources. The browser will choose the first source it supports.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  <a:latin typeface="Calibri "/>
              </a:rPr>
              <a:t>The text between the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&lt;video&gt;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and 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&lt;/video&gt;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 tags will only be displayed in browsers that do not support the </a:t>
            </a:r>
            <a:r>
              <a:rPr lang="en-US" sz="2400" dirty="0">
                <a:solidFill>
                  <a:srgbClr val="002060"/>
                </a:solidFill>
                <a:latin typeface="Calibri "/>
              </a:rPr>
              <a:t>&lt;video&gt;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 element.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  <a:latin typeface="Calibri "/>
              </a:rPr>
              <a:t>There are three supported video formats in HTML: MP4, </a:t>
            </a:r>
            <a:r>
              <a:rPr lang="en-US" sz="2400" b="0" dirty="0" err="1">
                <a:solidFill>
                  <a:srgbClr val="002060"/>
                </a:solidFill>
                <a:latin typeface="Calibri "/>
              </a:rPr>
              <a:t>WebM</a:t>
            </a:r>
            <a:r>
              <a:rPr lang="en-US" sz="2400" b="0" dirty="0">
                <a:solidFill>
                  <a:srgbClr val="002060"/>
                </a:solidFill>
                <a:latin typeface="Calibri "/>
              </a:rPr>
              <a:t>, and OGG.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46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Attributes of Video Tag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1" y="1690687"/>
          <a:ext cx="10737916" cy="4342467"/>
        </p:xfrm>
        <a:graphic>
          <a:graphicData uri="http://schemas.openxmlformats.org/drawingml/2006/table">
            <a:tbl>
              <a:tblPr/>
              <a:tblGrid>
                <a:gridCol w="15709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774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895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3023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</a:rPr>
                        <a:t>Attribute</a:t>
                      </a: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Value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230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hlinkClick r:id="rId2"/>
                        </a:rPr>
                        <a:t>autoplay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2060"/>
                          </a:solidFill>
                          <a:effectLst/>
                        </a:rPr>
                        <a:t>autoplay</a:t>
                      </a:r>
                      <a:endParaRPr lang="en-US" sz="1600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Specifies that the video will start playing as soon as it is ready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0197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hlinkClick r:id="rId3"/>
                        </a:rPr>
                        <a:t>controls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controls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</a:rPr>
                        <a:t>Specifies that video controls should be displayed (such as a play/pause button </a:t>
                      </a:r>
                      <a:r>
                        <a:rPr lang="en-US" sz="1600" dirty="0" err="1">
                          <a:solidFill>
                            <a:srgbClr val="002060"/>
                          </a:solidFill>
                          <a:effectLst/>
                        </a:rPr>
                        <a:t>etc</a:t>
                      </a: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</a:rPr>
                        <a:t>).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436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hlinkClick r:id="rId4"/>
                        </a:rPr>
                        <a:t>height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i="1">
                          <a:solidFill>
                            <a:srgbClr val="002060"/>
                          </a:solidFill>
                          <a:effectLst/>
                        </a:rPr>
                        <a:t>pixels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Sets the height of the video player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230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hlinkClick r:id="rId5"/>
                        </a:rPr>
                        <a:t>loop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loop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Specifies that the video will start over again, every time it is finished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230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hlinkClick r:id="rId6"/>
                        </a:rPr>
                        <a:t>muted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muted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Specifies that the audio output of the video should be muted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902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hlinkClick r:id="rId7"/>
                        </a:rPr>
                        <a:t>poster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i="1">
                          <a:solidFill>
                            <a:srgbClr val="002060"/>
                          </a:solidFill>
                          <a:effectLst/>
                        </a:rPr>
                        <a:t>URL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Specifies an image to be shown while the video is downloading, or until the user hits the play button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436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2060"/>
                          </a:solidFill>
                          <a:effectLst/>
                          <a:hlinkClick r:id="rId8"/>
                        </a:rPr>
                        <a:t>src</a:t>
                      </a:r>
                      <a:endParaRPr lang="en-US" sz="1600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i="1">
                          <a:solidFill>
                            <a:srgbClr val="002060"/>
                          </a:solidFill>
                          <a:effectLst/>
                        </a:rPr>
                        <a:t>URL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</a:rPr>
                        <a:t>Specifies the URL of the video file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436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hlinkClick r:id="rId9"/>
                        </a:rPr>
                        <a:t>width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52489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i="1">
                          <a:solidFill>
                            <a:srgbClr val="002060"/>
                          </a:solidFill>
                          <a:effectLst/>
                        </a:rPr>
                        <a:t>pixels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</a:rPr>
                        <a:t>Sets the width of the video player</a:t>
                      </a:r>
                    </a:p>
                  </a:txBody>
                  <a:tcPr marL="26244" marR="26244" marT="26244" marB="26244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332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03" y="2024140"/>
            <a:ext cx="5515745" cy="3639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648" y="1818173"/>
            <a:ext cx="4667901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2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FORM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 HTML forms are used to pass data to a server. The &lt;form&gt; tag is used to create an HTML form for user input.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sz="3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&lt;form&gt; </a:t>
            </a:r>
            <a:r>
              <a:rPr lang="en-US" sz="3000" dirty="0">
                <a:latin typeface="Calibri" pitchFamily="34" charset="0"/>
                <a:cs typeface="Calibri" pitchFamily="34" charset="0"/>
              </a:rPr>
              <a:t>tag is used to start a form</a:t>
            </a:r>
          </a:p>
          <a:p>
            <a:pPr>
              <a:lnSpc>
                <a:spcPct val="80000"/>
              </a:lnSpc>
            </a:pPr>
            <a:r>
              <a:rPr lang="en-US" sz="3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&lt;/form&gt; </a:t>
            </a:r>
            <a:r>
              <a:rPr lang="en-US" sz="3000" dirty="0">
                <a:latin typeface="Calibri" pitchFamily="34" charset="0"/>
                <a:cs typeface="Calibri" pitchFamily="34" charset="0"/>
              </a:rPr>
              <a:t>tag is used to end a form</a:t>
            </a:r>
          </a:p>
          <a:p>
            <a:pPr>
              <a:lnSpc>
                <a:spcPct val="80000"/>
              </a:lnSpc>
            </a:pPr>
            <a:r>
              <a:rPr lang="en-US" sz="3000" dirty="0">
                <a:latin typeface="Calibri" pitchFamily="34" charset="0"/>
                <a:cs typeface="Calibri" pitchFamily="34" charset="0"/>
              </a:rPr>
              <a:t>Between &lt;form&gt; and &lt;/form&gt;, </a:t>
            </a:r>
            <a:r>
              <a:rPr lang="en-US" sz="3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form elements </a:t>
            </a:r>
            <a:r>
              <a:rPr lang="en-US" sz="3000" dirty="0">
                <a:latin typeface="Calibri" pitchFamily="34" charset="0"/>
                <a:cs typeface="Calibri" pitchFamily="34" charset="0"/>
              </a:rPr>
              <a:t>are placed</a:t>
            </a:r>
          </a:p>
          <a:p>
            <a:pPr>
              <a:lnSpc>
                <a:spcPct val="80000"/>
              </a:lnSpc>
            </a:pPr>
            <a:r>
              <a:rPr lang="en-US" sz="3000" dirty="0">
                <a:latin typeface="Calibri" pitchFamily="34" charset="0"/>
                <a:cs typeface="Calibri" pitchFamily="34" charset="0"/>
              </a:rPr>
              <a:t>We can declare a form as: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	&lt;form attributes&gt;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sz="3000" b="1" dirty="0">
                <a:latin typeface="Calibri" pitchFamily="34" charset="0"/>
                <a:cs typeface="Calibri" pitchFamily="34" charset="0"/>
              </a:rPr>
              <a:t>		form elements and layout tags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	&lt;/form&gt;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730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The &lt;form&gt; element can contain one or more of the following form elements:</a:t>
            </a:r>
          </a:p>
          <a:p>
            <a:pPr lvl="1"/>
            <a:r>
              <a:rPr lang="en-US" dirty="0">
                <a:solidFill>
                  <a:srgbClr val="002060"/>
                </a:solidFill>
                <a:hlinkClick r:id="rId2"/>
              </a:rPr>
              <a:t>&lt;input&gt;</a:t>
            </a:r>
            <a:endParaRPr lang="en-US" dirty="0">
              <a:solidFill>
                <a:srgbClr val="002060"/>
              </a:solidFill>
            </a:endParaRPr>
          </a:p>
          <a:p>
            <a:pPr lvl="1"/>
            <a:r>
              <a:rPr lang="en-US" dirty="0">
                <a:solidFill>
                  <a:srgbClr val="002060"/>
                </a:solidFill>
                <a:hlinkClick r:id="rId3"/>
              </a:rPr>
              <a:t>&lt;</a:t>
            </a:r>
            <a:r>
              <a:rPr lang="en-US" dirty="0" err="1">
                <a:solidFill>
                  <a:srgbClr val="002060"/>
                </a:solidFill>
                <a:hlinkClick r:id="rId3"/>
              </a:rPr>
              <a:t>textarea</a:t>
            </a:r>
            <a:r>
              <a:rPr lang="en-US" dirty="0">
                <a:solidFill>
                  <a:srgbClr val="002060"/>
                </a:solidFill>
                <a:hlinkClick r:id="rId3"/>
              </a:rPr>
              <a:t>&gt;</a:t>
            </a:r>
            <a:endParaRPr lang="en-US" dirty="0">
              <a:solidFill>
                <a:srgbClr val="002060"/>
              </a:solidFill>
            </a:endParaRPr>
          </a:p>
          <a:p>
            <a:pPr lvl="1"/>
            <a:r>
              <a:rPr lang="en-US" dirty="0">
                <a:solidFill>
                  <a:srgbClr val="002060"/>
                </a:solidFill>
                <a:hlinkClick r:id="rId4"/>
              </a:rPr>
              <a:t>&lt;button&gt;</a:t>
            </a:r>
            <a:endParaRPr lang="en-US" dirty="0">
              <a:solidFill>
                <a:srgbClr val="002060"/>
              </a:solidFill>
            </a:endParaRPr>
          </a:p>
          <a:p>
            <a:pPr lvl="1"/>
            <a:r>
              <a:rPr lang="en-US" dirty="0">
                <a:solidFill>
                  <a:srgbClr val="002060"/>
                </a:solidFill>
                <a:hlinkClick r:id="rId5"/>
              </a:rPr>
              <a:t>&lt;select&gt;</a:t>
            </a:r>
            <a:endParaRPr lang="en-US" dirty="0">
              <a:solidFill>
                <a:srgbClr val="002060"/>
              </a:solidFill>
            </a:endParaRPr>
          </a:p>
          <a:p>
            <a:pPr lvl="1"/>
            <a:r>
              <a:rPr lang="en-US" dirty="0">
                <a:solidFill>
                  <a:srgbClr val="002060"/>
                </a:solidFill>
                <a:hlinkClick r:id="rId6"/>
              </a:rPr>
              <a:t>&lt;option&gt;</a:t>
            </a:r>
            <a:endParaRPr lang="en-US" dirty="0">
              <a:solidFill>
                <a:srgbClr val="002060"/>
              </a:solidFill>
            </a:endParaRPr>
          </a:p>
          <a:p>
            <a:pPr lvl="1"/>
            <a:r>
              <a:rPr lang="en-US" dirty="0">
                <a:solidFill>
                  <a:srgbClr val="002060"/>
                </a:solidFill>
                <a:hlinkClick r:id="rId7"/>
              </a:rPr>
              <a:t>&lt;</a:t>
            </a:r>
            <a:r>
              <a:rPr lang="en-US" dirty="0" err="1">
                <a:solidFill>
                  <a:srgbClr val="002060"/>
                </a:solidFill>
                <a:hlinkClick r:id="rId7"/>
              </a:rPr>
              <a:t>fieldset</a:t>
            </a:r>
            <a:r>
              <a:rPr lang="en-US" dirty="0">
                <a:solidFill>
                  <a:srgbClr val="002060"/>
                </a:solidFill>
                <a:hlinkClick r:id="rId7"/>
              </a:rPr>
              <a:t>&gt;</a:t>
            </a:r>
            <a:endParaRPr lang="en-US" dirty="0">
              <a:solidFill>
                <a:srgbClr val="002060"/>
              </a:solidFill>
            </a:endParaRPr>
          </a:p>
          <a:p>
            <a:pPr lvl="1"/>
            <a:r>
              <a:rPr lang="en-US" dirty="0">
                <a:solidFill>
                  <a:srgbClr val="002060"/>
                </a:solidFill>
                <a:hlinkClick r:id="rId8"/>
              </a:rPr>
              <a:t>&lt;label&gt;</a:t>
            </a:r>
            <a:endParaRPr lang="en-US" dirty="0">
              <a:solidFill>
                <a:srgbClr val="002060"/>
              </a:solidFill>
            </a:endParaRPr>
          </a:p>
          <a:p>
            <a:pPr lvl="1"/>
            <a:r>
              <a:rPr lang="en-US" dirty="0">
                <a:solidFill>
                  <a:srgbClr val="002060"/>
                </a:solidFill>
              </a:rPr>
              <a:t>&lt;legend&gt;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9729" y="138785"/>
          <a:ext cx="11568223" cy="56668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128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183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8370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8714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  <a:t>Attributes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action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URL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Specifies where to send the form-data when a form is submitted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623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method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  <a:t>get</a:t>
                      </a:r>
                      <a:b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  <a:t>post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  <a:t>Specifies the HTTP method to use when sending form-data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23996" marR="23996" marT="11998" marB="11998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  <a:t>name 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Text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  <a:t>Specifies the name of a form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714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  <a:t>target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_blank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</a:rPr>
                        <a:t>_self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</a:rPr>
                        <a:t>Specifies where to display the response that is received after submitting the form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997" marR="17997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518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Input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most important form element is the &lt;input&gt; element. </a:t>
            </a:r>
          </a:p>
          <a:p>
            <a:r>
              <a:rPr lang="en-US" sz="3200" dirty="0"/>
              <a:t>The &lt;input&gt; element is used to select user information.</a:t>
            </a:r>
          </a:p>
          <a:p>
            <a:r>
              <a:rPr lang="en-US" sz="3200" dirty="0"/>
              <a:t>An &lt;input&gt; element can vary in many ways, depending on the type attribute. An &lt;input&gt; element can be of type text field, checkbox, password, radio button, submit button, and more.</a:t>
            </a:r>
          </a:p>
          <a:p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718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input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Text Fields</a:t>
            </a:r>
          </a:p>
          <a:p>
            <a:r>
              <a:rPr lang="en-US" dirty="0"/>
              <a:t>Password Field</a:t>
            </a:r>
          </a:p>
          <a:p>
            <a:r>
              <a:rPr lang="en-US" dirty="0"/>
              <a:t>Radio Buttons</a:t>
            </a:r>
          </a:p>
          <a:p>
            <a:r>
              <a:rPr lang="en-US" dirty="0"/>
              <a:t>Checkboxes</a:t>
            </a:r>
          </a:p>
          <a:p>
            <a:r>
              <a:rPr lang="en-US" dirty="0"/>
              <a:t>Submit Button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952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&lt;input type="text"&gt; defines a one-line input field that a user can enter text into:</a:t>
            </a:r>
          </a:p>
          <a:p>
            <a:r>
              <a:rPr lang="en-US" dirty="0"/>
              <a:t>&lt;form&gt;</a:t>
            </a:r>
            <a:br>
              <a:rPr lang="en-US" dirty="0"/>
            </a:br>
            <a:r>
              <a:rPr lang="en-US" dirty="0"/>
              <a:t>First name: &lt;input type="text" name="</a:t>
            </a:r>
            <a:r>
              <a:rPr lang="en-US" dirty="0" err="1"/>
              <a:t>firstname</a:t>
            </a:r>
            <a:r>
              <a:rPr lang="en-US" dirty="0"/>
              <a:t>" /&gt;&lt;</a:t>
            </a:r>
            <a:r>
              <a:rPr lang="en-US" dirty="0" err="1"/>
              <a:t>br</a:t>
            </a:r>
            <a:r>
              <a:rPr lang="en-US" dirty="0"/>
              <a:t> /&gt;</a:t>
            </a:r>
            <a:br>
              <a:rPr lang="en-US" dirty="0"/>
            </a:br>
            <a:r>
              <a:rPr lang="en-US" dirty="0"/>
              <a:t>Last name: &lt;input type="text" name="</a:t>
            </a:r>
            <a:r>
              <a:rPr lang="en-US" dirty="0" err="1"/>
              <a:t>lastname</a:t>
            </a:r>
            <a:r>
              <a:rPr lang="en-US" dirty="0"/>
              <a:t>" /&gt;</a:t>
            </a:r>
            <a:br>
              <a:rPr lang="en-US" dirty="0"/>
            </a:br>
            <a:r>
              <a:rPr lang="en-US" dirty="0"/>
              <a:t>&lt;/form&gt;</a:t>
            </a:r>
          </a:p>
          <a:p>
            <a:r>
              <a:rPr lang="en-US" dirty="0"/>
              <a:t>How the HTML code above looks in a browser: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550" y="4800452"/>
            <a:ext cx="5838050" cy="13765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4404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Password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&lt;input type="password"&gt; defines a password field: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005" y="2407720"/>
            <a:ext cx="9853059" cy="3185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008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Radio 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&lt;input type="radio"&gt; defines a radio button. Radio buttons let a user select ONLY ONE of a limited number of choices: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10" y="2704435"/>
            <a:ext cx="10332189" cy="3377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9917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Checkboxes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&lt;input type="checkbox"&gt; defines a checkbox. Checkboxes let a user select ZERO or MORE options of a limited number of choices.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10957"/>
            <a:ext cx="10102702" cy="3566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0253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Submit 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&lt;input type="submit"&gt; defines a submit button.</a:t>
            </a:r>
          </a:p>
          <a:p>
            <a:r>
              <a:rPr lang="en-US" dirty="0"/>
              <a:t>A submit button is used to send form data to a server. The data is sent to the page specified in the form's action attribute. The file defined in the action attribute usually does something with the received input: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21" y="3952082"/>
            <a:ext cx="9797793" cy="24042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2600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altLang="en-US" sz="3600" b="0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If you type some characters in the text field above, and click the "Submit" button, the browser will send your input to a page called "demo_form_action.asp". The page will show you the received input.</a:t>
            </a:r>
            <a:r>
              <a:rPr lang="en-US" altLang="en-US" sz="3600" b="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05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Fieldset</a:t>
            </a:r>
            <a:r>
              <a:rPr lang="en-US" dirty="0">
                <a:solidFill>
                  <a:schemeClr val="bg1"/>
                </a:solidFill>
              </a:rPr>
              <a:t> around form-data: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How to create a border around elements in a form.  </a:t>
            </a:r>
          </a:p>
          <a:p>
            <a:r>
              <a:rPr lang="en-US" sz="3200" dirty="0"/>
              <a:t>The &lt;</a:t>
            </a:r>
            <a:r>
              <a:rPr lang="en-US" sz="3200" dirty="0" err="1"/>
              <a:t>fieldset</a:t>
            </a:r>
            <a:r>
              <a:rPr lang="en-US" sz="3200" dirty="0"/>
              <a:t>&gt; tag is used to group related elements in a form.</a:t>
            </a:r>
          </a:p>
          <a:p>
            <a:r>
              <a:rPr lang="en-US" sz="3200" dirty="0"/>
              <a:t>The &lt;</a:t>
            </a:r>
            <a:r>
              <a:rPr lang="en-US" sz="3200" dirty="0" err="1"/>
              <a:t>fieldset</a:t>
            </a:r>
            <a:r>
              <a:rPr lang="en-US" sz="3200" dirty="0"/>
              <a:t>&gt; tag draws a box around the related elements.</a:t>
            </a:r>
          </a:p>
          <a:p>
            <a:r>
              <a:rPr lang="en-US" sz="3200" dirty="0"/>
              <a:t>The &lt;legend&gt; tag defines a caption for the </a:t>
            </a:r>
            <a:r>
              <a:rPr lang="en-US" sz="3200" dirty="0">
                <a:hlinkClick r:id="rId2"/>
              </a:rPr>
              <a:t>&lt;</a:t>
            </a:r>
            <a:r>
              <a:rPr lang="en-US" sz="3200" dirty="0" err="1">
                <a:hlinkClick r:id="rId2"/>
              </a:rPr>
              <a:t>fieldset</a:t>
            </a:r>
            <a:r>
              <a:rPr lang="en-US" sz="3200" dirty="0">
                <a:hlinkClick r:id="rId2"/>
              </a:rPr>
              <a:t>&gt;</a:t>
            </a:r>
            <a:r>
              <a:rPr lang="en-US" sz="3200" dirty="0"/>
              <a:t> element.</a:t>
            </a:r>
          </a:p>
          <a:p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069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330" y="75585"/>
            <a:ext cx="7296488" cy="610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26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8" y="1164227"/>
            <a:ext cx="11848949" cy="403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19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&lt;label&gt; tag defines a label for an &lt;input&gt; element.</a:t>
            </a:r>
          </a:p>
          <a:p>
            <a:r>
              <a:rPr lang="en-US" dirty="0"/>
              <a:t>The &lt;label&gt; element does not render as anything special for the user. However, it provides a usability improvement for mouse users, because if the user clicks on the text within the &lt;label&gt; element, it toggles the control.</a:t>
            </a:r>
          </a:p>
          <a:p>
            <a:r>
              <a:rPr lang="en-US" dirty="0"/>
              <a:t> The for attribute of the &lt;label&gt; tag should be equal to the id attribute of the related element to bind them together.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647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87" y="697713"/>
            <a:ext cx="10118738" cy="509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26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01395"/>
            <a:ext cx="10836699" cy="390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53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Textarea</a:t>
            </a:r>
            <a:r>
              <a:rPr lang="en-US" dirty="0"/>
              <a:t>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The &lt;</a:t>
            </a:r>
            <a:r>
              <a:rPr lang="en-US" sz="3200" dirty="0" err="1"/>
              <a:t>textarea</a:t>
            </a:r>
            <a:r>
              <a:rPr lang="en-US" sz="3200" dirty="0"/>
              <a:t>&gt; tag defines a multi-line text input control.</a:t>
            </a:r>
          </a:p>
          <a:p>
            <a:r>
              <a:rPr lang="en-US" sz="3200" dirty="0"/>
              <a:t>A text area can hold an unlimited number of characters, and the text renders in a fixed-width font (usually Courier).</a:t>
            </a:r>
          </a:p>
          <a:p>
            <a:r>
              <a:rPr lang="en-US" sz="3200" dirty="0"/>
              <a:t>The size of a text area can be specified by the cols and rows attributes, or even better; through CSS' height and width properties.</a:t>
            </a:r>
          </a:p>
          <a:p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892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158" y="671548"/>
            <a:ext cx="4350610" cy="175267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58" y="2424222"/>
            <a:ext cx="11249247" cy="271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72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468" y="1403499"/>
            <a:ext cx="10755332" cy="316850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705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The &lt;select&gt; element is used to create a drop-down list.</a:t>
            </a:r>
          </a:p>
          <a:p>
            <a:r>
              <a:rPr lang="en-US" sz="3600" dirty="0"/>
              <a:t>The </a:t>
            </a:r>
            <a:r>
              <a:rPr lang="en-US" sz="3600" dirty="0">
                <a:hlinkClick r:id="rId2"/>
              </a:rPr>
              <a:t>&lt;option&gt;</a:t>
            </a:r>
            <a:r>
              <a:rPr lang="en-US" sz="3600" dirty="0"/>
              <a:t> tags inside the &lt;select&gt; element define the available options in the list.</a:t>
            </a:r>
          </a:p>
          <a:p>
            <a:r>
              <a:rPr lang="en-US" sz="3600" dirty="0"/>
              <a:t>Note: The &lt;select&gt; element is a form control and can be used in a form to collect user input.</a:t>
            </a:r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581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 The &lt;option&gt; tag defines an option in a select list.</a:t>
            </a:r>
          </a:p>
          <a:p>
            <a:r>
              <a:rPr lang="en-US" sz="4000" dirty="0"/>
              <a:t>Note: The &lt;option&gt; tag can be used without any attributes, but you usually need the value attribute, which indicates what is sent to the server.</a:t>
            </a:r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493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61" y="336087"/>
            <a:ext cx="5381846" cy="29807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60" y="3316801"/>
            <a:ext cx="2128283" cy="151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182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896" y="252005"/>
            <a:ext cx="8498299" cy="558062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78A665-65B8-4E6C-BF58-97471B62A4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FE983-65F8-481A-83AB-B8769D089C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48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</TotalTime>
  <Words>1139</Words>
  <Application>Microsoft Office PowerPoint</Application>
  <PresentationFormat>Custom</PresentationFormat>
  <Paragraphs>221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Office Theme</vt:lpstr>
      <vt:lpstr>2_Office Theme</vt:lpstr>
      <vt:lpstr>Web Programming </vt:lpstr>
      <vt:lpstr>Canvas Tag</vt:lpstr>
      <vt:lpstr>Example</vt:lpstr>
      <vt:lpstr>Explain example</vt:lpstr>
      <vt:lpstr>Audio Tag</vt:lpstr>
      <vt:lpstr>Attributes of Audio Tag</vt:lpstr>
      <vt:lpstr>Example</vt:lpstr>
      <vt:lpstr>Video Tag</vt:lpstr>
      <vt:lpstr>Attributes of Video Tag</vt:lpstr>
      <vt:lpstr>Example</vt:lpstr>
      <vt:lpstr>HTML FORM TAG</vt:lpstr>
      <vt:lpstr>PowerPoint Presentation</vt:lpstr>
      <vt:lpstr>PowerPoint Presentation</vt:lpstr>
      <vt:lpstr>The Input Element</vt:lpstr>
      <vt:lpstr>Common input types </vt:lpstr>
      <vt:lpstr>Text Fields</vt:lpstr>
      <vt:lpstr>Password Field</vt:lpstr>
      <vt:lpstr>Radio Buttons</vt:lpstr>
      <vt:lpstr>Checkboxes</vt:lpstr>
      <vt:lpstr>Submit Button</vt:lpstr>
      <vt:lpstr>Explain</vt:lpstr>
      <vt:lpstr>Fieldset around form-data: </vt:lpstr>
      <vt:lpstr>PowerPoint Presentation</vt:lpstr>
      <vt:lpstr>PowerPoint Presentation</vt:lpstr>
      <vt:lpstr>Label Tag</vt:lpstr>
      <vt:lpstr>PowerPoint Presentation</vt:lpstr>
      <vt:lpstr>PowerPoint Presentation</vt:lpstr>
      <vt:lpstr>Textarea Tag</vt:lpstr>
      <vt:lpstr>PowerPoint Presentation</vt:lpstr>
      <vt:lpstr>PowerPoint Presentation</vt:lpstr>
      <vt:lpstr>Select Tag</vt:lpstr>
      <vt:lpstr>Option Tag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fuu</cp:lastModifiedBy>
  <cp:revision>444</cp:revision>
  <dcterms:created xsi:type="dcterms:W3CDTF">2024-10-01T04:03:44Z</dcterms:created>
  <dcterms:modified xsi:type="dcterms:W3CDTF">2025-05-20T12:49:42Z</dcterms:modified>
</cp:coreProperties>
</file>
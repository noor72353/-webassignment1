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30"/>
  </p:notesMasterIdLst>
  <p:sldIdLst>
    <p:sldId id="284" r:id="rId3"/>
    <p:sldId id="375" r:id="rId4"/>
    <p:sldId id="376" r:id="rId5"/>
    <p:sldId id="378" r:id="rId6"/>
    <p:sldId id="386" r:id="rId7"/>
    <p:sldId id="387" r:id="rId8"/>
    <p:sldId id="390" r:id="rId9"/>
    <p:sldId id="414" r:id="rId10"/>
    <p:sldId id="415" r:id="rId11"/>
    <p:sldId id="416" r:id="rId12"/>
    <p:sldId id="417" r:id="rId13"/>
    <p:sldId id="418" r:id="rId14"/>
    <p:sldId id="402" r:id="rId15"/>
    <p:sldId id="419" r:id="rId16"/>
    <p:sldId id="420" r:id="rId17"/>
    <p:sldId id="403" r:id="rId18"/>
    <p:sldId id="404" r:id="rId19"/>
    <p:sldId id="405" r:id="rId20"/>
    <p:sldId id="406" r:id="rId21"/>
    <p:sldId id="407" r:id="rId22"/>
    <p:sldId id="408" r:id="rId23"/>
    <p:sldId id="410" r:id="rId24"/>
    <p:sldId id="411" r:id="rId25"/>
    <p:sldId id="413" r:id="rId26"/>
    <p:sldId id="421" r:id="rId27"/>
    <p:sldId id="391" r:id="rId28"/>
    <p:sldId id="3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85879" autoAdjust="0"/>
  </p:normalViewPr>
  <p:slideViewPr>
    <p:cSldViewPr snapToGrid="0">
      <p:cViewPr>
        <p:scale>
          <a:sx n="85" d="100"/>
          <a:sy n="85" d="100"/>
        </p:scale>
        <p:origin x="-300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314C3-B0EC-4AD1-B5EA-D2F77D34CA71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A5FAB-D57B-4F09-9D42-40E1DFCD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2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7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5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0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6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4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6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4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1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7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55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xmlns="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/>
              <a:t>4/29/2025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xmlns="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xmlns="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001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xmlns="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xmlns="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xmlns="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31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08FD-3D60-442C-B673-50DEA1E718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115096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5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30EE-1BA8-420F-B2C9-CE22107EC47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4" descr="Related image">
            <a:extLst>
              <a:ext uri="{FF2B5EF4-FFF2-40B4-BE49-F238E27FC236}">
                <a16:creationId xmlns:a16="http://schemas.microsoft.com/office/drawing/2014/main" xmlns="" id="{150F5A2B-22A3-4222-9DDD-E7A28FAB68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835" y="6311371"/>
            <a:ext cx="1502229" cy="43268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86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0214-E8A3-43BC-B597-D3E30C8B00C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836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08FD-3D60-442C-B673-50DEA1E718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187174"/>
      </p:ext>
    </p:extLst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8542-80B1-4CF8-8433-4FF09B77E66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7353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DA35-5107-4BD5-8AAB-1BDDC0BFF48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2006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08FD-3D60-442C-B673-50DEA1E718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586009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08FD-3D60-442C-B673-50DEA1E718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959385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08FD-3D60-442C-B673-50DEA1E718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560778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08FD-3D60-442C-B673-50DEA1E718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958214"/>
      </p:ext>
    </p:extLst>
  </p:cSld>
  <p:clrMapOvr>
    <a:masterClrMapping/>
  </p:clrMapOvr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xmlns="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xmlns="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prstClr val="white">
                  <a:lumMod val="95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xmlns="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6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5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B7BFA-4AC9-4F51-BAD1-9EF0C4C46EC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CF257-6514-49F6-9247-E7DCE089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2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hubspot.com/website/html?hubs_content=blog.hubspot.com/blog/tabid/6307/bid/5847/a-marketer-s-guide-to-html5.aspx&amp;hubs_content-cta=HTML" TargetMode="Externa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w3schools.com/tags/tag_label.asp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19492"/>
            <a:ext cx="12192000" cy="2165125"/>
          </a:xfrm>
        </p:spPr>
        <p:txBody>
          <a:bodyPr>
            <a:noAutofit/>
          </a:bodyPr>
          <a:lstStyle/>
          <a:p>
            <a:r>
              <a:rPr lang="en-US" sz="4800" dirty="0"/>
              <a:t>Web Programming</a:t>
            </a:r>
            <a:br>
              <a:rPr lang="en-US" sz="4800" dirty="0"/>
            </a:br>
            <a:endParaRPr lang="en-US" sz="4800" dirty="0">
              <a:ea typeface="+mn-lt"/>
              <a:cs typeface="+mn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52C-3CFC-4FAB-945A-BCF95F4812D3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E9FB51F4-C125-EEE9-9539-144C3C89E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4648201"/>
            <a:ext cx="6324600" cy="152399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dirty="0"/>
              <a:t>Instructor: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dirty="0"/>
              <a:t>Ms. Hina Javed </a:t>
            </a:r>
            <a:endParaRPr lang="en-US" sz="2600" dirty="0"/>
          </a:p>
        </p:txBody>
      </p:sp>
      <p:pic>
        <p:nvPicPr>
          <p:cNvPr id="8" name="Picture 2" descr="Principles of Modern Web Development in Pakistan | Hub So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96" y="2351096"/>
            <a:ext cx="2745025" cy="170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11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798264"/>
            <a:ext cx="10515600" cy="72625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HTML Unordered Lists</a:t>
            </a:r>
            <a:endParaRPr lang="en-US" altLang="ur-PK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1633121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 unordered list starts with the &lt;</a:t>
            </a:r>
            <a:r>
              <a:rPr lang="en-US" dirty="0" err="1"/>
              <a:t>ul</a:t>
            </a:r>
            <a:r>
              <a:rPr lang="en-US" dirty="0"/>
              <a:t>&gt; tag. Each list item starts with the &lt;li&gt; tag.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list items are marked with bullets (typically small black circles).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ul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&lt;li&gt;Coffee&lt;/li&gt;</a:t>
            </a:r>
            <a:br>
              <a:rPr lang="en-US" dirty="0"/>
            </a:br>
            <a:r>
              <a:rPr lang="en-US" dirty="0"/>
              <a:t>&lt;li&gt;Milk&lt;/li&gt;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the HTML code above looks in a browser: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Coffee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Milk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05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798264"/>
            <a:ext cx="10515600" cy="72625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HTML Ordered Lists</a:t>
            </a:r>
            <a:endParaRPr lang="en-US" altLang="ur-PK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1633121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 ordered list starts with the &lt;</a:t>
            </a:r>
            <a:r>
              <a:rPr lang="en-US" dirty="0" err="1"/>
              <a:t>ol</a:t>
            </a:r>
            <a:r>
              <a:rPr lang="en-US" dirty="0"/>
              <a:t>&gt; tag. Each list item starts with the &lt;li&gt; tag.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list items are marked with numbers.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&lt;li&gt;Coffee&lt;/li&gt;</a:t>
            </a:r>
            <a:br>
              <a:rPr lang="en-US" dirty="0"/>
            </a:br>
            <a:r>
              <a:rPr lang="en-US" dirty="0"/>
              <a:t>&lt;li&gt;Milk&lt;/li&gt;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the HTML code above looks in a browser:</a:t>
            </a:r>
          </a:p>
          <a:p>
            <a:pPr marL="514350" indent="-514350">
              <a:buAutoNum type="arabicPeriod"/>
            </a:pPr>
            <a:r>
              <a:rPr lang="en-US" dirty="0"/>
              <a:t>Coffee</a:t>
            </a:r>
          </a:p>
          <a:p>
            <a:pPr marL="514350" indent="-514350">
              <a:buAutoNum type="arabicPeriod"/>
            </a:pPr>
            <a:r>
              <a:rPr lang="en-US" dirty="0"/>
              <a:t>Milk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798264"/>
            <a:ext cx="10515600" cy="72625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HTML Colors</a:t>
            </a:r>
            <a:endParaRPr lang="en-US" altLang="ur-PK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1633121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HTML colors are defined using a hexadecimal notation (HEX) for the combination of Red, Green, and Blue color values (RGB).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21723"/>
            <a:ext cx="10430560" cy="374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798264"/>
            <a:ext cx="10515600" cy="72625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altLang="en-US" dirty="0"/>
              <a:t>Font </a:t>
            </a:r>
            <a:r>
              <a:rPr lang="fr-FR" altLang="en-US" dirty="0" err="1"/>
              <a:t>Colors</a:t>
            </a:r>
            <a:r>
              <a:rPr lang="fr-FR" altLang="en-US" dirty="0"/>
              <a:t> :&lt;FONT&gt;</a:t>
            </a:r>
            <a:endParaRPr lang="en-US" altLang="ur-PK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1633121"/>
            <a:ext cx="10515600" cy="4351338"/>
          </a:xfrm>
        </p:spPr>
        <p:txBody>
          <a:bodyPr>
            <a:noAutofit/>
          </a:bodyPr>
          <a:lstStyle/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dirty="0"/>
              <a:t>By using &lt;FONT&gt; Tag one can specify the </a:t>
            </a:r>
            <a:r>
              <a:rPr lang="en-GB" dirty="0" err="1"/>
              <a:t>colors</a:t>
            </a:r>
            <a:r>
              <a:rPr lang="en-GB" dirty="0"/>
              <a:t>, size of the text. Example: 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/>
              <a:t>&lt;FONT&gt; Your text goes here &lt;/FONT&gt;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/>
              <a:t>Attributes of &lt;FONT&gt; are: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/>
              <a:t>- COLOR: Sets the </a:t>
            </a:r>
            <a:r>
              <a:rPr lang="en-GB" dirty="0" err="1"/>
              <a:t>color</a:t>
            </a:r>
            <a:r>
              <a:rPr lang="en-GB" dirty="0"/>
              <a:t> of the text that will appear on the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/>
              <a:t> screen. It can be set by giving the value as #rr0000 for red (in RGB hexadecimal format), or by name. Example: &lt;FONT COLOR="RED"&gt; Your text goes here &lt;/FONT&gt;</a:t>
            </a:r>
          </a:p>
        </p:txBody>
      </p:sp>
    </p:spTree>
    <p:extLst>
      <p:ext uri="{BB962C8B-B14F-4D97-AF65-F5344CB8AC3E}">
        <p14:creationId xmlns:p14="http://schemas.microsoft.com/office/powerpoint/2010/main" val="30125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798264"/>
            <a:ext cx="10515600" cy="72625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fr-FR" altLang="en-US" dirty="0"/>
              <a:t>Font Size :&lt;FONT&gt;</a:t>
            </a:r>
            <a:endParaRPr lang="en-US" altLang="ur-PK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1633121"/>
            <a:ext cx="10515600" cy="4351338"/>
          </a:xfrm>
        </p:spPr>
        <p:txBody>
          <a:bodyPr>
            <a:noAutofit/>
          </a:bodyPr>
          <a:lstStyle/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SIZE: Sets the size of the text, takes value between 1 and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     7, default is 3. Size can also be set relative to default size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    for example; SIZE=+X, where X is any integer value and it will add with the default size.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Example: 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&lt;FONT SIZE=5&gt; Font Size changes to 5 &lt;/FONT&gt;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 FACE: Sets the normal font type, provided it is installed on the user’s machine.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Example: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GB" sz="2400" dirty="0"/>
              <a:t> &lt;FONT FACE="ARIAL"&gt; the text will be displayed in Arial&lt;/FONT&gt;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37775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Div</a:t>
            </a:r>
            <a:r>
              <a:rPr lang="en-US" sz="3600" dirty="0"/>
              <a:t> </a:t>
            </a:r>
          </a:p>
          <a:p>
            <a:r>
              <a:rPr lang="en-US" sz="3600" dirty="0"/>
              <a:t>What is html5?</a:t>
            </a:r>
          </a:p>
          <a:p>
            <a:r>
              <a:rPr lang="en-US" sz="3600" dirty="0"/>
              <a:t> Semantic Elements</a:t>
            </a:r>
          </a:p>
          <a:p>
            <a:r>
              <a:rPr lang="en-US" sz="3600" dirty="0"/>
              <a:t> Forms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94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Div</a:t>
            </a:r>
            <a:r>
              <a:rPr lang="en-US" dirty="0"/>
              <a:t>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The </a:t>
            </a:r>
            <a:r>
              <a:rPr lang="en-US" altLang="en-US" sz="3200" b="0" dirty="0">
                <a:solidFill>
                  <a:srgbClr val="002060"/>
                </a:solidFill>
                <a:latin typeface="Consolas" panose="020B0609020204030204" pitchFamily="49" charset="0"/>
              </a:rPr>
              <a:t>&lt;div&gt;</a:t>
            </a: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 tag defines a division or a section in an HTML document.</a:t>
            </a:r>
            <a:endParaRPr lang="en-US" altLang="en-US" sz="3200" b="0" dirty="0">
              <a:solidFill>
                <a:srgbClr val="002060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The </a:t>
            </a:r>
            <a:r>
              <a:rPr lang="en-US" altLang="en-US" sz="3200" b="0" dirty="0">
                <a:solidFill>
                  <a:srgbClr val="002060"/>
                </a:solidFill>
                <a:latin typeface="Consolas" panose="020B0609020204030204" pitchFamily="49" charset="0"/>
              </a:rPr>
              <a:t>&lt;div&gt;</a:t>
            </a: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 tag is used as a container for HTML elements - which is then styled with CSS or manipulated with JavaScript.</a:t>
            </a:r>
            <a:endParaRPr lang="en-US" altLang="en-US" sz="3200" b="0" dirty="0">
              <a:solidFill>
                <a:srgbClr val="002060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The </a:t>
            </a:r>
            <a:r>
              <a:rPr lang="en-US" altLang="en-US" sz="3200" b="0" dirty="0">
                <a:solidFill>
                  <a:srgbClr val="002060"/>
                </a:solidFill>
                <a:latin typeface="Consolas" panose="020B0609020204030204" pitchFamily="49" charset="0"/>
              </a:rPr>
              <a:t>&lt;div&gt;</a:t>
            </a: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 tag is easily styled by using the class or id attribute.</a:t>
            </a:r>
            <a:endParaRPr lang="en-US" altLang="en-US" sz="3200" b="0" dirty="0">
              <a:solidFill>
                <a:srgbClr val="002060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Any sort of content can be put inside the </a:t>
            </a:r>
            <a:r>
              <a:rPr lang="en-US" altLang="en-US" sz="3200" b="0" dirty="0">
                <a:solidFill>
                  <a:srgbClr val="002060"/>
                </a:solidFill>
                <a:latin typeface="Consolas" panose="020B0609020204030204" pitchFamily="49" charset="0"/>
              </a:rPr>
              <a:t>&lt;div&gt;</a:t>
            </a:r>
            <a:r>
              <a:rPr lang="en-US" altLang="en-US" sz="3200" b="0" dirty="0">
                <a:solidFill>
                  <a:srgbClr val="002060"/>
                </a:solidFill>
                <a:latin typeface="Verdana" panose="020B0604030504040204" pitchFamily="34" charset="0"/>
              </a:rPr>
              <a:t> tag! </a:t>
            </a:r>
            <a:endParaRPr lang="en-US" altLang="en-US" sz="3200" b="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07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93" y="1864350"/>
            <a:ext cx="7908034" cy="21441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57" y="4500264"/>
            <a:ext cx="11430027" cy="113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2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2264732" y="2059254"/>
            <a:ext cx="9448800" cy="1825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600" b="1" dirty="0">
                <a:solidFill>
                  <a:srgbClr val="00B0F0"/>
                </a:solidFill>
              </a:rPr>
              <a:t>&lt;HTML5&gt;</a:t>
            </a:r>
          </a:p>
        </p:txBody>
      </p:sp>
      <p:sp>
        <p:nvSpPr>
          <p:cNvPr id="11" name="Subtitle 2"/>
          <p:cNvSpPr>
            <a:spLocks noGrp="1"/>
          </p:cNvSpPr>
          <p:nvPr/>
        </p:nvSpPr>
        <p:spPr>
          <a:xfrm>
            <a:off x="669851" y="3692156"/>
            <a:ext cx="9448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chemeClr val="accent1"/>
                </a:solidFill>
              </a:rPr>
              <a:t>Hypertext Markup Language</a:t>
            </a:r>
          </a:p>
        </p:txBody>
      </p:sp>
    </p:spTree>
    <p:extLst>
      <p:ext uri="{BB962C8B-B14F-4D97-AF65-F5344CB8AC3E}">
        <p14:creationId xmlns:p14="http://schemas.microsoft.com/office/powerpoint/2010/main" val="298056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F8CDD2-6F71-4170-A1DB-4F2FDE6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00CFF50-6AC3-4D75-A311-4A22ACB2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798264"/>
            <a:ext cx="10515600" cy="72625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>
                    <a:lumMod val="9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What is HTML5?</a:t>
            </a:r>
            <a:endParaRPr lang="en-US" altLang="ur-PK" sz="9600" dirty="0">
              <a:solidFill>
                <a:schemeClr val="bg1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b="0" dirty="0"/>
              <a:t>HTML5 is the newest version of </a:t>
            </a:r>
            <a:r>
              <a:rPr lang="en-US" sz="3600" dirty="0">
                <a:hlinkClick r:id="rId2"/>
              </a:rPr>
              <a:t>HTML</a:t>
            </a:r>
            <a:r>
              <a:rPr lang="en-US" sz="3600" b="0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b="0" dirty="0"/>
              <a:t>HTML5 has new elements and attributes.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b="0" dirty="0"/>
              <a:t>Making code easier to read for users and screen readers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b="0" dirty="0"/>
              <a:t>Enable you to build more complex and powerful websites and apps.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5641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Semantic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dirty="0"/>
              <a:t>HTML5 introduced several new semantically meaningful tags. These include:</a:t>
            </a:r>
          </a:p>
          <a:p>
            <a:pPr lvl="1"/>
            <a:r>
              <a:rPr lang="en-US" sz="2800" b="0" dirty="0"/>
              <a:t>&lt;section&gt;</a:t>
            </a:r>
          </a:p>
          <a:p>
            <a:pPr lvl="1"/>
            <a:r>
              <a:rPr lang="en-US" sz="2800" b="0" dirty="0"/>
              <a:t>&lt;header&gt;</a:t>
            </a:r>
          </a:p>
          <a:p>
            <a:pPr lvl="1"/>
            <a:r>
              <a:rPr lang="en-US" sz="2800" b="0" dirty="0"/>
              <a:t>&lt;footer&gt; </a:t>
            </a:r>
          </a:p>
          <a:p>
            <a:pPr lvl="1"/>
            <a:r>
              <a:rPr lang="en-US" sz="2800" b="0" dirty="0"/>
              <a:t>&lt;</a:t>
            </a:r>
            <a:r>
              <a:rPr lang="en-US" sz="2800" b="0" dirty="0" err="1"/>
              <a:t>nav</a:t>
            </a:r>
            <a:r>
              <a:rPr lang="en-US" sz="2800" b="0" dirty="0"/>
              <a:t>&gt;</a:t>
            </a:r>
          </a:p>
          <a:p>
            <a:pPr marL="457200" lvl="1" indent="0">
              <a:buNone/>
            </a:pPr>
            <a:endParaRPr lang="en-US" sz="2800" b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401879" y="2679774"/>
            <a:ext cx="5902842" cy="349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b="1" kern="1200">
                <a:solidFill>
                  <a:srgbClr val="00105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800" dirty="0"/>
              <a:t>&lt;figure&gt;</a:t>
            </a:r>
          </a:p>
          <a:p>
            <a:pPr lvl="1"/>
            <a:r>
              <a:rPr lang="en-US" sz="2800" dirty="0"/>
              <a:t>&lt;</a:t>
            </a:r>
            <a:r>
              <a:rPr lang="en-US" sz="2800" dirty="0" err="1"/>
              <a:t>figcaption</a:t>
            </a:r>
            <a:r>
              <a:rPr lang="en-US" sz="2800" dirty="0"/>
              <a:t>&gt;</a:t>
            </a:r>
          </a:p>
          <a:p>
            <a:pPr lvl="1"/>
            <a:r>
              <a:rPr lang="en-US" sz="2800" dirty="0"/>
              <a:t>&lt;progress&gt;</a:t>
            </a:r>
          </a:p>
          <a:p>
            <a:pPr lvl="1"/>
            <a:r>
              <a:rPr lang="en-US" sz="2800" dirty="0"/>
              <a:t>&lt;main&gt;</a:t>
            </a:r>
          </a:p>
        </p:txBody>
      </p:sp>
    </p:spTree>
    <p:extLst>
      <p:ext uri="{BB962C8B-B14F-4D97-AF65-F5344CB8AC3E}">
        <p14:creationId xmlns:p14="http://schemas.microsoft.com/office/powerpoint/2010/main" val="1561534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2060"/>
                </a:solidFill>
                <a:latin typeface="Calibri "/>
              </a:rPr>
              <a:t> </a:t>
            </a:r>
            <a:r>
              <a:rPr lang="en-US" sz="32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3200" dirty="0">
                <a:solidFill>
                  <a:srgbClr val="002060"/>
                </a:solidFill>
                <a:latin typeface="Calibri "/>
              </a:rPr>
              <a:t>&lt;section&gt;</a:t>
            </a:r>
            <a:r>
              <a:rPr lang="en-US" sz="3200" b="0" dirty="0">
                <a:solidFill>
                  <a:srgbClr val="002060"/>
                </a:solidFill>
                <a:latin typeface="Calibri "/>
              </a:rPr>
              <a:t> tag defines a section in a document.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0" dirty="0">
                <a:latin typeface="Calibri "/>
              </a:rPr>
              <a:t>The &lt;section&gt; tag means that the content inside relates to a single theme.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0" dirty="0">
                <a:latin typeface="Calibri "/>
              </a:rPr>
              <a:t>we can organize the content structure logically and meaningfully.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0" dirty="0"/>
              <a:t> Allowing users and search engines to understand the page structure. </a:t>
            </a:r>
            <a:endParaRPr lang="en-US" sz="3200" b="0" dirty="0">
              <a:solidFill>
                <a:srgbClr val="002060"/>
              </a:solidFill>
              <a:latin typeface="Calibri 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282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86" y="1870075"/>
            <a:ext cx="8688012" cy="20386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328" y="4088097"/>
            <a:ext cx="8564170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12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1361" y="1876922"/>
            <a:ext cx="9869277" cy="424874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117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sz="3200" dirty="0">
                <a:solidFill>
                  <a:srgbClr val="002060"/>
                </a:solidFill>
                <a:latin typeface="Calibri "/>
              </a:rPr>
              <a:t>&lt;header&gt;</a:t>
            </a:r>
            <a:r>
              <a:rPr lang="en-US" sz="3200" b="0" dirty="0">
                <a:solidFill>
                  <a:srgbClr val="002060"/>
                </a:solidFill>
                <a:latin typeface="Calibri "/>
              </a:rPr>
              <a:t> element represents a container for introductory content or a set of navigational links.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0" dirty="0">
                <a:solidFill>
                  <a:srgbClr val="002060"/>
                </a:solidFill>
                <a:latin typeface="Calibri "/>
              </a:rPr>
              <a:t>A </a:t>
            </a:r>
            <a:r>
              <a:rPr lang="en-US" sz="3200" dirty="0">
                <a:solidFill>
                  <a:srgbClr val="002060"/>
                </a:solidFill>
                <a:latin typeface="Calibri "/>
              </a:rPr>
              <a:t>&lt;header&gt;</a:t>
            </a:r>
            <a:r>
              <a:rPr lang="en-US" sz="3200" b="0" dirty="0">
                <a:solidFill>
                  <a:srgbClr val="002060"/>
                </a:solidFill>
                <a:latin typeface="Calibri "/>
              </a:rPr>
              <a:t> element typically contains: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0" dirty="0">
                <a:solidFill>
                  <a:srgbClr val="002060"/>
                </a:solidFill>
                <a:latin typeface="Calibri "/>
              </a:rPr>
              <a:t>one or more heading elements (&lt;h1&gt; - &lt;h6&gt;)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0" dirty="0">
                <a:solidFill>
                  <a:srgbClr val="002060"/>
                </a:solidFill>
                <a:latin typeface="Calibri "/>
              </a:rPr>
              <a:t>logo or icon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0" dirty="0">
                <a:solidFill>
                  <a:srgbClr val="002060"/>
                </a:solidFill>
                <a:latin typeface="Calibri "/>
              </a:rPr>
              <a:t>authorship information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b="0" dirty="0">
                <a:solidFill>
                  <a:srgbClr val="002060"/>
                </a:solidFill>
                <a:latin typeface="Calibri "/>
              </a:rPr>
              <a:t/>
            </a:r>
            <a:br>
              <a:rPr lang="en-US" sz="3200" b="0" dirty="0">
                <a:solidFill>
                  <a:srgbClr val="002060"/>
                </a:solidFill>
                <a:latin typeface="Calibri "/>
              </a:rPr>
            </a:br>
            <a:endParaRPr lang="en-US" sz="3200" b="0" dirty="0">
              <a:solidFill>
                <a:srgbClr val="002060"/>
              </a:solidFill>
              <a:latin typeface="Calibri 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535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927" y="2075256"/>
            <a:ext cx="4096322" cy="308653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223" y="2408393"/>
            <a:ext cx="5210902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65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Footer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b="0" dirty="0">
                <a:solidFill>
                  <a:srgbClr val="002060"/>
                </a:solidFill>
              </a:rPr>
              <a:t>The </a:t>
            </a:r>
            <a:r>
              <a:rPr lang="en-US" sz="2400" dirty="0">
                <a:solidFill>
                  <a:srgbClr val="002060"/>
                </a:solidFill>
              </a:rPr>
              <a:t>&lt;footer&gt;</a:t>
            </a:r>
            <a:r>
              <a:rPr lang="en-US" sz="2400" b="0" dirty="0">
                <a:solidFill>
                  <a:srgbClr val="002060"/>
                </a:solidFill>
              </a:rPr>
              <a:t> tag defines a footer for a document or section.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</a:rPr>
              <a:t>A </a:t>
            </a:r>
            <a:r>
              <a:rPr lang="en-US" sz="2400" dirty="0">
                <a:solidFill>
                  <a:srgbClr val="002060"/>
                </a:solidFill>
              </a:rPr>
              <a:t>&lt;footer&gt;</a:t>
            </a:r>
            <a:r>
              <a:rPr lang="en-US" sz="2400" b="0" dirty="0">
                <a:solidFill>
                  <a:srgbClr val="002060"/>
                </a:solidFill>
              </a:rPr>
              <a:t> element typically contains: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0" dirty="0">
                <a:solidFill>
                  <a:srgbClr val="002060"/>
                </a:solidFill>
              </a:rPr>
              <a:t>authorship information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0" dirty="0">
                <a:solidFill>
                  <a:srgbClr val="002060"/>
                </a:solidFill>
              </a:rPr>
              <a:t>copyright information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0" dirty="0">
                <a:solidFill>
                  <a:srgbClr val="002060"/>
                </a:solidFill>
              </a:rPr>
              <a:t>contact information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0" dirty="0">
                <a:solidFill>
                  <a:srgbClr val="002060"/>
                </a:solidFill>
              </a:rPr>
              <a:t>sitemap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0" dirty="0">
                <a:solidFill>
                  <a:srgbClr val="002060"/>
                </a:solidFill>
              </a:rPr>
              <a:t>back to top links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0" dirty="0">
                <a:solidFill>
                  <a:srgbClr val="002060"/>
                </a:solidFill>
              </a:rPr>
              <a:t>related documents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</a:rPr>
              <a:t>You can have several </a:t>
            </a:r>
            <a:r>
              <a:rPr lang="en-US" sz="2400" dirty="0">
                <a:solidFill>
                  <a:srgbClr val="002060"/>
                </a:solidFill>
              </a:rPr>
              <a:t>&lt;footer&gt;</a:t>
            </a:r>
            <a:r>
              <a:rPr lang="en-US" sz="2400" b="0" dirty="0">
                <a:solidFill>
                  <a:srgbClr val="002060"/>
                </a:solidFill>
              </a:rPr>
              <a:t> elements in one document.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82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7212"/>
            <a:ext cx="7201905" cy="33627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583" y="2232833"/>
            <a:ext cx="3991532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86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Nav</a:t>
            </a:r>
            <a:r>
              <a:rPr lang="en-US" dirty="0"/>
              <a:t>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b="0" dirty="0">
                <a:solidFill>
                  <a:srgbClr val="002060"/>
                </a:solidFill>
              </a:rPr>
              <a:t>The</a:t>
            </a:r>
            <a:r>
              <a:rPr lang="en-US" sz="2400" dirty="0">
                <a:solidFill>
                  <a:srgbClr val="002060"/>
                </a:solidFill>
              </a:rPr>
              <a:t> &lt;</a:t>
            </a:r>
            <a:r>
              <a:rPr lang="en-US" sz="2400" dirty="0" err="1">
                <a:solidFill>
                  <a:srgbClr val="002060"/>
                </a:solidFill>
              </a:rPr>
              <a:t>nav</a:t>
            </a:r>
            <a:r>
              <a:rPr lang="en-US" sz="2400" dirty="0">
                <a:solidFill>
                  <a:srgbClr val="002060"/>
                </a:solidFill>
              </a:rPr>
              <a:t>&gt;</a:t>
            </a:r>
            <a:r>
              <a:rPr lang="en-US" sz="2400" b="0" dirty="0">
                <a:solidFill>
                  <a:srgbClr val="002060"/>
                </a:solidFill>
              </a:rPr>
              <a:t> tag defines a set of navigation links.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002060"/>
                </a:solidFill>
              </a:rPr>
              <a:t>Notice that NOT all links of a document should be inside a </a:t>
            </a:r>
            <a:r>
              <a:rPr lang="en-US" sz="2400" dirty="0">
                <a:solidFill>
                  <a:srgbClr val="002060"/>
                </a:solidFill>
              </a:rPr>
              <a:t>&lt;</a:t>
            </a:r>
            <a:r>
              <a:rPr lang="en-US" sz="2400" dirty="0" err="1">
                <a:solidFill>
                  <a:srgbClr val="002060"/>
                </a:solidFill>
              </a:rPr>
              <a:t>nav</a:t>
            </a:r>
            <a:r>
              <a:rPr lang="en-US" sz="2400" dirty="0">
                <a:solidFill>
                  <a:srgbClr val="002060"/>
                </a:solidFill>
              </a:rPr>
              <a:t>&gt; </a:t>
            </a:r>
            <a:r>
              <a:rPr lang="en-US" sz="2400" b="0" dirty="0">
                <a:solidFill>
                  <a:srgbClr val="002060"/>
                </a:solidFill>
              </a:rPr>
              <a:t>element. The </a:t>
            </a:r>
            <a:r>
              <a:rPr lang="en-US" sz="2400" dirty="0">
                <a:solidFill>
                  <a:srgbClr val="002060"/>
                </a:solidFill>
              </a:rPr>
              <a:t>&lt;</a:t>
            </a:r>
            <a:r>
              <a:rPr lang="en-US" sz="2400" dirty="0" err="1">
                <a:solidFill>
                  <a:srgbClr val="002060"/>
                </a:solidFill>
              </a:rPr>
              <a:t>nav</a:t>
            </a:r>
            <a:r>
              <a:rPr lang="en-US" sz="2400" dirty="0">
                <a:solidFill>
                  <a:srgbClr val="002060"/>
                </a:solidFill>
              </a:rPr>
              <a:t>&gt;</a:t>
            </a:r>
            <a:r>
              <a:rPr lang="en-US" sz="2400" b="0" dirty="0">
                <a:solidFill>
                  <a:srgbClr val="002060"/>
                </a:solidFill>
              </a:rPr>
              <a:t> element is intended only for major blocks of navigation links.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27" y="3342276"/>
            <a:ext cx="3991532" cy="16194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22" y="3701214"/>
            <a:ext cx="3553321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958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&amp; </a:t>
            </a:r>
            <a:r>
              <a:rPr lang="en-US" dirty="0" err="1"/>
              <a:t>Figcaption</a:t>
            </a:r>
            <a:r>
              <a:rPr lang="en-US" dirty="0"/>
              <a:t>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rgbClr val="002060"/>
                </a:solidFill>
                <a:latin typeface="Calibri "/>
              </a:rPr>
              <a:t>The </a:t>
            </a:r>
            <a:r>
              <a:rPr lang="en-US" altLang="en-US" dirty="0">
                <a:solidFill>
                  <a:srgbClr val="002060"/>
                </a:solidFill>
                <a:latin typeface="Calibri "/>
              </a:rPr>
              <a:t>&lt;figure&gt;</a:t>
            </a:r>
            <a:r>
              <a:rPr lang="en-US" altLang="en-US" b="0" dirty="0">
                <a:solidFill>
                  <a:srgbClr val="002060"/>
                </a:solidFill>
                <a:latin typeface="Calibri "/>
              </a:rPr>
              <a:t> tag specifies self-contained content, like illustrations, diagrams, photos, code listings, etc.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rgbClr val="002060"/>
                </a:solidFill>
                <a:latin typeface="Calibri "/>
              </a:rPr>
              <a:t>While the content of the </a:t>
            </a:r>
            <a:r>
              <a:rPr lang="en-US" altLang="en-US" dirty="0">
                <a:solidFill>
                  <a:srgbClr val="002060"/>
                </a:solidFill>
                <a:latin typeface="Calibri "/>
              </a:rPr>
              <a:t>&lt;figure&gt;</a:t>
            </a:r>
            <a:r>
              <a:rPr lang="en-US" altLang="en-US" b="0" dirty="0">
                <a:solidFill>
                  <a:srgbClr val="002060"/>
                </a:solidFill>
                <a:latin typeface="Calibri "/>
              </a:rPr>
              <a:t> element is related to the main flow, its position is independent of the main flow, and if removed it should not affect the flow of the document.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01294"/>
            <a:ext cx="7240010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0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22" y="0"/>
            <a:ext cx="8971092" cy="622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02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Progress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rgbClr val="002060"/>
                </a:solidFill>
              </a:rPr>
              <a:t>The </a:t>
            </a:r>
            <a:r>
              <a:rPr lang="en-US" altLang="en-US" dirty="0">
                <a:solidFill>
                  <a:srgbClr val="002060"/>
                </a:solidFill>
              </a:rPr>
              <a:t>&lt;progress&gt;</a:t>
            </a:r>
            <a:r>
              <a:rPr lang="en-US" altLang="en-US" b="0" dirty="0">
                <a:solidFill>
                  <a:srgbClr val="002060"/>
                </a:solidFill>
              </a:rPr>
              <a:t> tag represents the completion progress of a task.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0" dirty="0">
                <a:solidFill>
                  <a:srgbClr val="002060"/>
                </a:solidFill>
              </a:rPr>
              <a:t>Always add the </a:t>
            </a:r>
            <a:r>
              <a:rPr lang="en-US" b="0" dirty="0">
                <a:solidFill>
                  <a:srgbClr val="002060"/>
                </a:solidFill>
                <a:hlinkClick r:id="rId2"/>
              </a:rPr>
              <a:t>&lt;label&gt;</a:t>
            </a:r>
            <a:r>
              <a:rPr lang="en-US" b="0" dirty="0">
                <a:solidFill>
                  <a:srgbClr val="002060"/>
                </a:solidFill>
              </a:rPr>
              <a:t> tag for best accessibility practices!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/>
            </a:r>
            <a:br>
              <a:rPr lang="en-US" dirty="0">
                <a:solidFill>
                  <a:srgbClr val="002060"/>
                </a:solidFill>
              </a:rPr>
            </a:br>
            <a:endParaRPr lang="en-US" altLang="en-US" b="0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251" y="2991221"/>
            <a:ext cx="9656103" cy="1191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326" y="4317495"/>
            <a:ext cx="9615367" cy="95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08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altLang="en-US" b="0" dirty="0">
                <a:solidFill>
                  <a:srgbClr val="002060"/>
                </a:solidFill>
              </a:rPr>
              <a:t>The </a:t>
            </a:r>
            <a:r>
              <a:rPr lang="en-US" altLang="en-US" dirty="0">
                <a:solidFill>
                  <a:srgbClr val="002060"/>
                </a:solidFill>
              </a:rPr>
              <a:t>&lt;main&gt;</a:t>
            </a:r>
            <a:r>
              <a:rPr lang="en-US" altLang="en-US" b="0" dirty="0">
                <a:solidFill>
                  <a:srgbClr val="002060"/>
                </a:solidFill>
              </a:rPr>
              <a:t> tag specifies the main content of a document.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 dirty="0">
                <a:solidFill>
                  <a:srgbClr val="002060"/>
                </a:solidFill>
              </a:rPr>
              <a:t>The content inside the</a:t>
            </a:r>
            <a:r>
              <a:rPr lang="en-US" altLang="en-US" dirty="0">
                <a:solidFill>
                  <a:srgbClr val="002060"/>
                </a:solidFill>
              </a:rPr>
              <a:t> &lt;main&gt;</a:t>
            </a:r>
            <a:r>
              <a:rPr lang="en-US" altLang="en-US" b="0" dirty="0">
                <a:solidFill>
                  <a:srgbClr val="002060"/>
                </a:solidFill>
              </a:rPr>
              <a:t> element should be unique to the document. It should not contain any content that is repeated across documents such as sidebars, navigation links, copyright information, site logos, and search forms.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0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876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Scalable Vector Graphics (SVG)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With HTML5, you can add vector graphics directly in HTML documents using the </a:t>
            </a:r>
            <a:r>
              <a:rPr lang="en-US" dirty="0"/>
              <a:t>&lt;</a:t>
            </a:r>
            <a:r>
              <a:rPr lang="en-US" dirty="0" err="1"/>
              <a:t>svg</a:t>
            </a:r>
            <a:r>
              <a:rPr lang="en-US" dirty="0"/>
              <a:t>&gt; </a:t>
            </a:r>
            <a:r>
              <a:rPr lang="en-US" b="0" dirty="0"/>
              <a:t>tag.</a:t>
            </a:r>
          </a:p>
          <a:p>
            <a:r>
              <a:rPr lang="en-US" b="0" dirty="0"/>
              <a:t>You can also draw rectangles, circles, and other vector-based paths and shapes using this new element.</a:t>
            </a:r>
          </a:p>
          <a:p>
            <a:r>
              <a:rPr lang="en-US" b="0" dirty="0"/>
              <a:t>SVG has several methods for drawing paths, boxes, circles, text, and graphic images.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113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909" y="2107675"/>
            <a:ext cx="6609129" cy="355332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843" y="2107675"/>
            <a:ext cx="3648584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02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400" dirty="0">
                <a:solidFill>
                  <a:srgbClr val="002060"/>
                </a:solidFill>
                <a:latin typeface="Calibri (Body)"/>
              </a:rPr>
              <a:t> </a:t>
            </a:r>
            <a:r>
              <a:rPr lang="en-US" sz="2400" b="0" dirty="0">
                <a:solidFill>
                  <a:srgbClr val="002060"/>
                </a:solidFill>
                <a:latin typeface="Calibri (Body)"/>
              </a:rPr>
              <a:t>&lt;</a:t>
            </a:r>
            <a:r>
              <a:rPr lang="en-US" sz="2400" b="0" dirty="0" err="1">
                <a:solidFill>
                  <a:srgbClr val="002060"/>
                </a:solidFill>
                <a:latin typeface="Calibri (Body)"/>
              </a:rPr>
              <a:t>svg</a:t>
            </a:r>
            <a:r>
              <a:rPr lang="en-US" sz="2400" b="0" dirty="0">
                <a:solidFill>
                  <a:srgbClr val="002060"/>
                </a:solidFill>
                <a:latin typeface="Calibri (Body)"/>
              </a:rPr>
              <a:t> width="400" height="180"&gt; defines an SVG canvas with a width of 400 pixels and a height of 180 pixels.</a:t>
            </a:r>
          </a:p>
          <a:p>
            <a:pPr lvl="0"/>
            <a:r>
              <a:rPr lang="en-US" sz="2400" b="0" dirty="0">
                <a:solidFill>
                  <a:srgbClr val="002060"/>
                </a:solidFill>
                <a:latin typeface="Calibri (Body)"/>
              </a:rPr>
              <a:t>Inside the SVG, there's a rectangle created with &lt;</a:t>
            </a:r>
            <a:r>
              <a:rPr lang="en-US" sz="2400" b="0" dirty="0" err="1">
                <a:solidFill>
                  <a:srgbClr val="002060"/>
                </a:solidFill>
                <a:latin typeface="Calibri (Body)"/>
              </a:rPr>
              <a:t>rect</a:t>
            </a:r>
            <a:r>
              <a:rPr lang="en-US" sz="2400" b="0" dirty="0">
                <a:solidFill>
                  <a:srgbClr val="002060"/>
                </a:solidFill>
                <a:latin typeface="Calibri (Body)"/>
              </a:rPr>
              <a:t>&gt;:</a:t>
            </a:r>
          </a:p>
          <a:p>
            <a:pPr lvl="1"/>
            <a:r>
              <a:rPr lang="en-US" b="0" dirty="0">
                <a:solidFill>
                  <a:srgbClr val="002060"/>
                </a:solidFill>
                <a:latin typeface="Calibri (Body)"/>
              </a:rPr>
              <a:t>x="50" and y="20" set the position of the rectangle.</a:t>
            </a:r>
          </a:p>
          <a:p>
            <a:pPr lvl="1"/>
            <a:r>
              <a:rPr lang="en-US" b="0" dirty="0" err="1">
                <a:solidFill>
                  <a:srgbClr val="002060"/>
                </a:solidFill>
                <a:latin typeface="Calibri (Body)"/>
              </a:rPr>
              <a:t>rx</a:t>
            </a:r>
            <a:r>
              <a:rPr lang="en-US" b="0" dirty="0">
                <a:solidFill>
                  <a:srgbClr val="002060"/>
                </a:solidFill>
                <a:latin typeface="Calibri (Body)"/>
              </a:rPr>
              <a:t>="20" and </a:t>
            </a:r>
            <a:r>
              <a:rPr lang="en-US" b="0" dirty="0" err="1">
                <a:solidFill>
                  <a:srgbClr val="002060"/>
                </a:solidFill>
                <a:latin typeface="Calibri (Body)"/>
              </a:rPr>
              <a:t>ry</a:t>
            </a:r>
            <a:r>
              <a:rPr lang="en-US" b="0" dirty="0">
                <a:solidFill>
                  <a:srgbClr val="002060"/>
                </a:solidFill>
                <a:latin typeface="Calibri (Body)"/>
              </a:rPr>
              <a:t>="20" give the rectangle rounded corners.</a:t>
            </a:r>
          </a:p>
          <a:p>
            <a:pPr lvl="1"/>
            <a:r>
              <a:rPr lang="en-US" b="0" dirty="0">
                <a:solidFill>
                  <a:srgbClr val="002060"/>
                </a:solidFill>
                <a:latin typeface="Calibri (Body)"/>
              </a:rPr>
              <a:t>width="150" and height="150" set the size of the rectangle.</a:t>
            </a:r>
          </a:p>
          <a:p>
            <a:pPr lvl="1"/>
            <a:r>
              <a:rPr lang="en-US" b="0" dirty="0">
                <a:solidFill>
                  <a:srgbClr val="002060"/>
                </a:solidFill>
                <a:latin typeface="Calibri (Body)"/>
              </a:rPr>
              <a:t>The style attribute specifies:</a:t>
            </a:r>
          </a:p>
          <a:p>
            <a:pPr lvl="1"/>
            <a:r>
              <a:rPr lang="en-US" dirty="0" err="1">
                <a:solidFill>
                  <a:srgbClr val="002060"/>
                </a:solidFill>
                <a:latin typeface="Calibri (Body)"/>
              </a:rPr>
              <a:t>fill:red</a:t>
            </a:r>
            <a:r>
              <a:rPr lang="en-US" dirty="0">
                <a:solidFill>
                  <a:srgbClr val="002060"/>
                </a:solidFill>
                <a:latin typeface="Calibri (Body)"/>
              </a:rPr>
              <a:t>; sets the fill color to red.</a:t>
            </a:r>
          </a:p>
          <a:p>
            <a:pPr lvl="1"/>
            <a:r>
              <a:rPr lang="en-US" dirty="0" err="1">
                <a:solidFill>
                  <a:srgbClr val="002060"/>
                </a:solidFill>
                <a:latin typeface="Calibri (Body)"/>
              </a:rPr>
              <a:t>stroke:black</a:t>
            </a:r>
            <a:r>
              <a:rPr lang="en-US" dirty="0">
                <a:solidFill>
                  <a:srgbClr val="002060"/>
                </a:solidFill>
                <a:latin typeface="Calibri (Body)"/>
              </a:rPr>
              <a:t>; sets the border color to black.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alibri (Body)"/>
              </a:rPr>
              <a:t>stroke-width:5; sets the border thickness.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alibri (Body)"/>
              </a:rPr>
              <a:t>opacity:0.5 makes the rectangle semi-transparent.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b="0" dirty="0">
              <a:solidFill>
                <a:srgbClr val="002060"/>
              </a:solidFill>
              <a:latin typeface="Calibri (Body)"/>
            </a:endParaRPr>
          </a:p>
          <a:p>
            <a:endParaRPr lang="en-US" sz="2400" dirty="0">
              <a:solidFill>
                <a:srgbClr val="002060"/>
              </a:solidFill>
              <a:latin typeface="Calibri (Body)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216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</TotalTime>
  <Words>656</Words>
  <Application>Microsoft Office PowerPoint</Application>
  <PresentationFormat>Custom</PresentationFormat>
  <Paragraphs>172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Office 2013 - 2022 Theme</vt:lpstr>
      <vt:lpstr>Web Programming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Div Tag</vt:lpstr>
      <vt:lpstr>Example</vt:lpstr>
      <vt:lpstr>PowerPoint Presentation</vt:lpstr>
      <vt:lpstr>PowerPoint Presentation</vt:lpstr>
      <vt:lpstr>Semantic Elements</vt:lpstr>
      <vt:lpstr>Section Tag</vt:lpstr>
      <vt:lpstr>Example</vt:lpstr>
      <vt:lpstr>Example</vt:lpstr>
      <vt:lpstr>Header Tag</vt:lpstr>
      <vt:lpstr>Example</vt:lpstr>
      <vt:lpstr>Footer Tag</vt:lpstr>
      <vt:lpstr>Example</vt:lpstr>
      <vt:lpstr>Nav Tag</vt:lpstr>
      <vt:lpstr>Figure &amp; Figcaption Tag</vt:lpstr>
      <vt:lpstr>PowerPoint Presentation</vt:lpstr>
      <vt:lpstr>Progress Tag</vt:lpstr>
      <vt:lpstr>Main Tag</vt:lpstr>
      <vt:lpstr>Scalable Vector Graphics (SVG) Tag</vt:lpstr>
      <vt:lpstr>Example</vt:lpstr>
      <vt:lpstr>Explain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fuu</cp:lastModifiedBy>
  <cp:revision>225</cp:revision>
  <dcterms:created xsi:type="dcterms:W3CDTF">2024-10-01T04:03:44Z</dcterms:created>
  <dcterms:modified xsi:type="dcterms:W3CDTF">2025-04-29T12:16:40Z</dcterms:modified>
</cp:coreProperties>
</file>